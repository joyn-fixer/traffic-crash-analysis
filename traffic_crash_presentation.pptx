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3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2322329901070065E-2"/>
          <c:y val="2.3281386701662292E-2"/>
          <c:w val="0.8834896359108958"/>
          <c:h val="0.80734880796150477"/>
        </c:manualLayout>
      </c:layou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0.8724</cdr:y>
    </cdr:to>
    <cdr:pic>
      <cdr:nvPicPr>
        <cdr:cNvPr id="6" name="chart">
          <a:extLst xmlns:a="http://schemas.openxmlformats.org/drawingml/2006/main">
            <a:ext uri="{FF2B5EF4-FFF2-40B4-BE49-F238E27FC236}">
              <a16:creationId xmlns:a16="http://schemas.microsoft.com/office/drawing/2014/main" id="{71C49959-16B9-E5B9-50DD-76BB0A5A04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010400" cy="319087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26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rgbClr val="1B998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011680" cy="201168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>
            <a:solidFill>
              <a:srgbClr val="1B998B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 Driven Analysis Traffic Crash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36208" y="42245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Njeru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Stakeholders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crash results is injury or no injury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42316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influential contributing factors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342900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actionable safety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1005840"/>
            <a:ext cx="0" cy="3840480"/>
          </a:xfrm>
          <a:prstGeom prst="line">
            <a:avLst/>
          </a:prstGeom>
          <a:noFill/>
          <a:ln w="19050">
            <a:solidFill>
              <a:srgbClr val="C8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417320"/>
            <a:ext cx="64008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53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Transportation Authority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737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resource allocation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286000"/>
            <a:ext cx="64008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225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Agencies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606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campaigns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154680"/>
            <a:ext cx="64008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1912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road design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Modelling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Crashes.csv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Accident-Level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Date/time &amp; location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Contributory cause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Weather &amp; lighting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Road conditions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Crash type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42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Vehicles.csv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298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Vehicle-Level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5727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type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Driving maneuver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type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42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People.csv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298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Person-Level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5727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 type &amp; sex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equipment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Airbag deployment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PIPELINE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28600" y="3749040"/>
            <a:ext cx="1325880" cy="594360"/>
          </a:xfrm>
          <a:prstGeom prst="rect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749040"/>
            <a:ext cx="1325880" cy="5943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554480" y="4041648"/>
            <a:ext cx="1371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91640" y="3749040"/>
            <a:ext cx="1325880" cy="59436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3749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Merge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017520" y="4041648"/>
            <a:ext cx="1371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3749040"/>
            <a:ext cx="1325880" cy="59436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749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80560" y="4041648"/>
            <a:ext cx="1371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749040"/>
            <a:ext cx="1325880" cy="59436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749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43600" y="4041648"/>
            <a:ext cx="1371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749040"/>
            <a:ext cx="1325880" cy="59436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749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06640" y="4041648"/>
            <a:ext cx="1371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3749040"/>
            <a:ext cx="1325880" cy="59436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3749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Frequency by Hour of Day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298532308"/>
              </p:ext>
            </p:extLst>
          </p:nvPr>
        </p:nvGraphicFramePr>
        <p:xfrm>
          <a:off x="274320" y="100584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05156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46520" y="1051560"/>
            <a:ext cx="64008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1097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Hours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01968" y="13533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AM – 4 AM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01968" y="154533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high severity per crash due to DUI fatigue, and low visibility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46520" y="233172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446520" y="2331720"/>
            <a:ext cx="64008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1968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01968" y="26334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AM – 9 AM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601968" y="2825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congestion crash volume; following too closely dominate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46520" y="361188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446520" y="3611880"/>
            <a:ext cx="64008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01968" y="39136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PM – 6 PM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01968" y="41056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crash frequency of the day — commuter volume, fatigue, and diminishing light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Safety Interventions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947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408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1000615"/>
            <a:ext cx="4206240" cy="18288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599" y="1000615"/>
            <a:ext cx="64008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79" y="1092055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Awareness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79" y="1549255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Right-of-way education — #1 crash cause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79" y="1942447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Following-distance campaigns for urban commuters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79" y="233563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messaging by age demographics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599" y="3017520"/>
            <a:ext cx="4206240" cy="18288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599" y="3017520"/>
            <a:ext cx="64008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59" y="3108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59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79" y="3108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1479" y="3566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units at crash hotspots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79" y="3959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resource allocation by time and weather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79" y="4352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response time to high-severity corridors</a:t>
            </a:r>
            <a:endParaRPr lang="en-US" sz="1100" dirty="0"/>
          </a:p>
        </p:txBody>
      </p:sp>
      <p:sp>
        <p:nvSpPr>
          <p:cNvPr id="38" name="Shape 21"/>
          <p:cNvSpPr/>
          <p:nvPr/>
        </p:nvSpPr>
        <p:spPr>
          <a:xfrm>
            <a:off x="365759" y="1092055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22"/>
          <p:cNvSpPr/>
          <p:nvPr/>
        </p:nvSpPr>
        <p:spPr>
          <a:xfrm>
            <a:off x="365759" y="1092055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1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crash severity can be meaningfully predicted using integrated crash, vehicle, and people-level data. Human behavior dominates crash causes, while environmental conditions amplify severity.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2651760" cy="1234440"/>
          </a:xfrm>
          <a:prstGeom prst="rect">
            <a:avLst/>
          </a:prstGeom>
          <a:solidFill>
            <a:schemeClr val="accent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Failing to Yield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651760"/>
            <a:ext cx="2651760" cy="1234440"/>
          </a:xfrm>
          <a:prstGeom prst="rect">
            <a:avLst/>
          </a:prstGeom>
          <a:solidFill>
            <a:schemeClr val="accent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PM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Crash Window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651760" cy="1234440"/>
          </a:xfrm>
          <a:prstGeom prst="rect">
            <a:avLst/>
          </a:prstGeom>
          <a:solidFill>
            <a:schemeClr val="accent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Model Threshold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operationalizing these findings, city authorities can transition from reactive incident response to proactive, data-informed crash prevention.</a:t>
            </a:r>
            <a:endParaRPr lang="en-US" sz="1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328</Words>
  <Application>Microsoft Office PowerPoint</Application>
  <PresentationFormat>On-screen Show (16:9)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Analysis of Traffic Crash Causes</dc:title>
  <dc:subject>PptxGenJS Presentation</dc:subject>
  <dc:creator>PptxGenJS</dc:creator>
  <cp:lastModifiedBy>Joy Njeru</cp:lastModifiedBy>
  <cp:revision>2</cp:revision>
  <dcterms:created xsi:type="dcterms:W3CDTF">2026-05-05T19:09:38Z</dcterms:created>
  <dcterms:modified xsi:type="dcterms:W3CDTF">2026-05-06T02:16:57Z</dcterms:modified>
</cp:coreProperties>
</file>